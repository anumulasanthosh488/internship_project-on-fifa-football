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85FA6-1C90-4AAE-923C-D6EC94AFB1CB}" v="27" dt="2025-11-26T17:18:22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Vikram" userId="88de198508db5578" providerId="LiveId" clId="{1520AF9A-450F-4329-92F7-5DCBB4474296}"/>
    <pc:docChg chg="modSld">
      <pc:chgData name="Vikram Vikram" userId="88de198508db5578" providerId="LiveId" clId="{1520AF9A-450F-4329-92F7-5DCBB4474296}" dt="2025-11-26T17:40:36.728" v="3"/>
      <pc:docMkLst>
        <pc:docMk/>
      </pc:docMkLst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57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58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59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60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61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62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63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3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Vikram Vikram" userId="88de198508db5578" providerId="LiveId" clId="{1520AF9A-450F-4329-92F7-5DCBB4474296}" dt="2025-11-26T17:40:36.728" v="3"/>
        <pc:sldMkLst>
          <pc:docMk/>
          <pc:sldMk cId="0" sldId="264"/>
        </pc:sldMkLst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kram Vikram" userId="88de198508db5578" providerId="LiveId" clId="{1520AF9A-450F-4329-92F7-5DCBB4474296}" dt="2025-11-26T17:40:36.728" v="3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9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7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8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1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6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7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9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5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4333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75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121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44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08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5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04"/>
            <a:ext cx="1952272" cy="6853049"/>
            <a:chOff x="6627813" y="195650"/>
            <a:chExt cx="1952625" cy="5678101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65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5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477" y="1229032"/>
            <a:ext cx="6803923" cy="1927122"/>
          </a:xfrm>
        </p:spPr>
        <p:txBody>
          <a:bodyPr>
            <a:normAutofit/>
          </a:bodyPr>
          <a:lstStyle/>
          <a:p>
            <a:r>
              <a:t>Architecture of a Database Management System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987" y="2507227"/>
            <a:ext cx="6892414" cy="412954"/>
          </a:xfrm>
        </p:spPr>
        <p:txBody>
          <a:bodyPr/>
          <a:lstStyle/>
          <a:p>
            <a:r>
              <a:rPr dirty="0"/>
              <a:t>Components and Functions</a:t>
            </a:r>
            <a:r>
              <a:rPr lang="en-US" dirty="0"/>
              <a:t>.</a:t>
            </a:r>
            <a:endParaRPr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10668-EEA8-095E-BF6B-F84950BAA110}"/>
              </a:ext>
            </a:extLst>
          </p:cNvPr>
          <p:cNvSpPr txBox="1"/>
          <p:nvPr/>
        </p:nvSpPr>
        <p:spPr>
          <a:xfrm>
            <a:off x="5643716" y="4691287"/>
            <a:ext cx="34019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NAME: A.SANTHOSH</a:t>
            </a:r>
          </a:p>
          <a:p>
            <a:r>
              <a:rPr lang="en-US" dirty="0"/>
              <a:t>ROLL NO: 24671A6701</a:t>
            </a:r>
          </a:p>
          <a:p>
            <a:r>
              <a:rPr lang="en-US" dirty="0"/>
              <a:t>BRANCH: CSE(DS)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DBMS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 DBMS is software that manages data, databases, and users.</a:t>
            </a:r>
          </a:p>
          <a:p>
            <a:pPr lvl="1"/>
            <a:r>
              <a:rPr sz="2000" dirty="0"/>
              <a:t>Provides a systematic and organized way of storing, retrieving, and managing data.</a:t>
            </a:r>
          </a:p>
          <a:p>
            <a:pPr lvl="1"/>
            <a:r>
              <a:rPr sz="2000" dirty="0"/>
              <a:t>Ensures security, consistency, integrity, and performance.</a:t>
            </a:r>
          </a:p>
          <a:p>
            <a:pPr lvl="1"/>
            <a:r>
              <a:rPr sz="2000" dirty="0"/>
              <a:t>Follows a layered architecture to simplify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DBMS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8" y="2261418"/>
            <a:ext cx="7964129" cy="3649803"/>
          </a:xfrm>
        </p:spPr>
        <p:txBody>
          <a:bodyPr>
            <a:normAutofit/>
          </a:bodyPr>
          <a:lstStyle/>
          <a:p>
            <a:r>
              <a:rPr sz="2000" dirty="0"/>
              <a:t>Three main levels of DBMS architecture:</a:t>
            </a:r>
          </a:p>
          <a:p>
            <a:pPr lvl="1"/>
            <a:r>
              <a:rPr sz="2000" dirty="0"/>
              <a:t>1. External Level (View Level)</a:t>
            </a:r>
          </a:p>
          <a:p>
            <a:pPr lvl="1"/>
            <a:r>
              <a:rPr sz="2000" dirty="0"/>
              <a:t>2. Conceptual Level (Logical Level)</a:t>
            </a:r>
          </a:p>
          <a:p>
            <a:pPr lvl="1"/>
            <a:r>
              <a:rPr sz="2000" dirty="0"/>
              <a:t>3. Internal Level (Physical Level)</a:t>
            </a:r>
          </a:p>
          <a:p>
            <a:pPr lvl="1"/>
            <a:r>
              <a:rPr sz="2000" dirty="0"/>
              <a:t>This is known as the Three-Schema Architecture.</a:t>
            </a:r>
          </a:p>
        </p:txBody>
      </p:sp>
      <p:pic>
        <p:nvPicPr>
          <p:cNvPr id="7" name="Picture 6" descr="A diagram of a system&#10;&#10;AI-generated content may be incorrect.">
            <a:extLst>
              <a:ext uri="{FF2B5EF4-FFF2-40B4-BE49-F238E27FC236}">
                <a16:creationId xmlns:a16="http://schemas.microsoft.com/office/drawing/2014/main" id="{ED52D071-6C29-863F-DE3B-7C68EEA6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690" y="1905001"/>
            <a:ext cx="3264310" cy="19885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Level (View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/>
              <a:t>Provides different user views of the same database.</a:t>
            </a:r>
          </a:p>
          <a:p>
            <a:pPr lvl="1"/>
            <a:r>
              <a:rPr sz="2000" dirty="0"/>
              <a:t>Ensures security by restricting access to specific data.</a:t>
            </a:r>
          </a:p>
          <a:p>
            <a:pPr lvl="1"/>
            <a:r>
              <a:rPr sz="2000" dirty="0"/>
              <a:t>Each user interacts only with the data they need.</a:t>
            </a:r>
          </a:p>
          <a:p>
            <a:pPr lvl="1"/>
            <a:r>
              <a:rPr sz="2000" dirty="0"/>
              <a:t>Hides internal complexity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Level (Logical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9795" y="2456268"/>
            <a:ext cx="6591985" cy="3777622"/>
          </a:xfrm>
        </p:spPr>
        <p:txBody>
          <a:bodyPr/>
          <a:lstStyle/>
          <a:p>
            <a:r>
              <a:rPr sz="2000" dirty="0"/>
              <a:t>Represents the entire database structure.</a:t>
            </a:r>
          </a:p>
          <a:p>
            <a:pPr lvl="1"/>
            <a:r>
              <a:rPr sz="2000" dirty="0"/>
              <a:t>Defines entities, relationships, constraints, and data types.</a:t>
            </a:r>
          </a:p>
          <a:p>
            <a:pPr lvl="1"/>
            <a:r>
              <a:rPr sz="2000" dirty="0"/>
              <a:t>Independent of physical storage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Internal Level (Physical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Deals with how data is actually stored in memory/disks.</a:t>
            </a:r>
          </a:p>
          <a:p>
            <a:pPr lvl="1"/>
            <a:r>
              <a:rPr sz="2000" dirty="0"/>
              <a:t>Includes file structures, indexes, hashing, data compression.</a:t>
            </a:r>
          </a:p>
          <a:p>
            <a:pPr lvl="1"/>
            <a:r>
              <a:rPr sz="2000" dirty="0"/>
              <a:t>Focuses on performance and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Major Components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Query Processor</a:t>
            </a:r>
          </a:p>
          <a:p>
            <a:pPr lvl="1"/>
            <a:r>
              <a:rPr sz="2000" dirty="0"/>
              <a:t>Storage Manager</a:t>
            </a:r>
          </a:p>
          <a:p>
            <a:pPr lvl="1"/>
            <a:r>
              <a:rPr lang="en-US" sz="2000" dirty="0"/>
              <a:t>Lock and log manager</a:t>
            </a:r>
            <a:endParaRPr sz="2000" dirty="0"/>
          </a:p>
          <a:p>
            <a:pPr lvl="1"/>
            <a:r>
              <a:rPr sz="2000" dirty="0"/>
              <a:t>Buffer Manager</a:t>
            </a:r>
          </a:p>
          <a:p>
            <a:pPr lvl="1"/>
            <a:r>
              <a:rPr sz="2000" dirty="0"/>
              <a:t>Metadata Catalog</a:t>
            </a:r>
          </a:p>
          <a:p>
            <a:pPr lvl="1"/>
            <a:r>
              <a:rPr sz="2000" dirty="0"/>
              <a:t>Authorization &amp; Security Module</a:t>
            </a:r>
          </a:p>
        </p:txBody>
      </p:sp>
      <p:pic>
        <p:nvPicPr>
          <p:cNvPr id="9" name="Picture 8" descr="A diagram of a database management system components&#10;&#10;AI-generated content may be incorrect.">
            <a:extLst>
              <a:ext uri="{FF2B5EF4-FFF2-40B4-BE49-F238E27FC236}">
                <a16:creationId xmlns:a16="http://schemas.microsoft.com/office/drawing/2014/main" id="{444FAE21-1CAB-18EF-0F91-C15401F0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987" y="2005781"/>
            <a:ext cx="3002689" cy="1936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Data Storage, Retrieval &amp; Update</a:t>
            </a:r>
          </a:p>
          <a:p>
            <a:pPr lvl="1"/>
            <a:r>
              <a:rPr sz="2000" dirty="0"/>
              <a:t>Transaction Management (ACID properties)</a:t>
            </a:r>
          </a:p>
          <a:p>
            <a:pPr lvl="1"/>
            <a:r>
              <a:rPr sz="2000" dirty="0"/>
              <a:t>Concurrency Control</a:t>
            </a:r>
          </a:p>
          <a:p>
            <a:pPr lvl="1"/>
            <a:r>
              <a:rPr sz="2000" dirty="0"/>
              <a:t>Backup &amp; Recovery</a:t>
            </a:r>
          </a:p>
          <a:p>
            <a:pPr lvl="1"/>
            <a:r>
              <a:rPr sz="2000" dirty="0"/>
              <a:t>Security &amp; Authorization</a:t>
            </a:r>
          </a:p>
          <a:p>
            <a:pPr lvl="1"/>
            <a:r>
              <a:rPr sz="2000" dirty="0"/>
              <a:t>Data Integrity Enforcement</a:t>
            </a:r>
          </a:p>
          <a:p>
            <a:pPr lvl="1"/>
            <a:r>
              <a:rPr sz="2000" dirty="0"/>
              <a:t>Data Independence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DBMS architecture consists of three levels: external, conceptual, internal.</a:t>
            </a:r>
          </a:p>
          <a:p>
            <a:pPr lvl="1"/>
            <a:r>
              <a:rPr sz="2000" dirty="0"/>
              <a:t>Components work together to ensure: efficient data storage, secure access, high performance, reliability and data integrity.</a:t>
            </a:r>
          </a:p>
          <a:p>
            <a:pPr lvl="1"/>
            <a:r>
              <a:rPr sz="2000" dirty="0"/>
              <a:t>DBMS is essential for modern applications requiring structured data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02BF6-3D5A-D6FD-869B-7673A971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994" y="2654710"/>
            <a:ext cx="5427406" cy="1209366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77314963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</TotalTime>
  <Words>319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Architecture of a Database Management System (DBMS)</vt:lpstr>
      <vt:lpstr>Introduction to DBMS.</vt:lpstr>
      <vt:lpstr>DBMS Architecture Overview</vt:lpstr>
      <vt:lpstr>External Level (View Level)</vt:lpstr>
      <vt:lpstr>Conceptual Level (Logical Level)</vt:lpstr>
      <vt:lpstr>Internal Level (Physical Level)</vt:lpstr>
      <vt:lpstr>Major Components of DBMS</vt:lpstr>
      <vt:lpstr>Functions of DBMS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Vikram</cp:lastModifiedBy>
  <cp:revision>2</cp:revision>
  <dcterms:created xsi:type="dcterms:W3CDTF">2013-01-27T09:14:16Z</dcterms:created>
  <dcterms:modified xsi:type="dcterms:W3CDTF">2025-11-26T17:40:43Z</dcterms:modified>
  <cp:category/>
</cp:coreProperties>
</file>